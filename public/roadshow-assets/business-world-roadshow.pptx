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e3666c696447ae" /><Relationship Type="http://schemas.openxmlformats.org/officeDocument/2006/relationships/extended-properties" Target="/docProps/app.xml" Id="R86218e31730542d3" /><Relationship Type="http://schemas.openxmlformats.org/officeDocument/2006/relationships/officeDocument" Target="/ppt/presentation.xml" Id="Rd46ff7572f3d48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680fec10954c0e"/>
  </p:sldMasterIdLst>
  <p:notesMasterIdLst>
    <p:notesMasterId xmlns:r="http://schemas.openxmlformats.org/officeDocument/2006/relationships" r:id="Rec8dcd56f3f247b1"/>
  </p:notesMasterIdLst>
  <p:sldIdLst>
    <p:sldId xmlns:r="http://schemas.openxmlformats.org/officeDocument/2006/relationships" id="256" r:id="R3017825124654240"/>
    <p:sldId xmlns:r="http://schemas.openxmlformats.org/officeDocument/2006/relationships" id="257" r:id="R2fe0e32e347a4560"/>
    <p:sldId xmlns:r="http://schemas.openxmlformats.org/officeDocument/2006/relationships" id="258" r:id="R46119c37b7364d26"/>
    <p:sldId xmlns:r="http://schemas.openxmlformats.org/officeDocument/2006/relationships" id="259" r:id="R7944bf39b0ac4971"/>
    <p:sldId xmlns:r="http://schemas.openxmlformats.org/officeDocument/2006/relationships" id="260" r:id="Rd2fedfbfd34f43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efbb3ce8ca4a59" /><Relationship Type="http://schemas.openxmlformats.org/officeDocument/2006/relationships/slideMaster" Target="/ppt/slideMasters/slideMaster1.xml" Id="Rcf680fec10954c0e" /><Relationship Type="http://schemas.openxmlformats.org/officeDocument/2006/relationships/notesMaster" Target="/ppt/notesMasters/notesMaster1.xml" Id="Rec8dcd56f3f247b1" /><Relationship Type="http://schemas.openxmlformats.org/officeDocument/2006/relationships/presProps" Target="/ppt/presProps.xml" Id="Rc3a7c4ac2f9c48a9" /><Relationship Type="http://schemas.openxmlformats.org/officeDocument/2006/relationships/tableStyles" Target="/ppt/tableStyles.xml" Id="R0254b40396784642" /><Relationship Type="http://schemas.openxmlformats.org/officeDocument/2006/relationships/slide" Target="/ppt/slides/slide1.xml" Id="R3017825124654240" /><Relationship Type="http://schemas.openxmlformats.org/officeDocument/2006/relationships/slide" Target="/ppt/slides/slide2.xml" Id="R2fe0e32e347a4560" /><Relationship Type="http://schemas.openxmlformats.org/officeDocument/2006/relationships/slide" Target="/ppt/slides/slide3.xml" Id="R46119c37b7364d26" /><Relationship Type="http://schemas.openxmlformats.org/officeDocument/2006/relationships/slide" Target="/ppt/slides/slide4.xml" Id="R7944bf39b0ac4971" /><Relationship Type="http://schemas.openxmlformats.org/officeDocument/2006/relationships/slide" Target="/ppt/slides/slide5.xml" Id="Rd2fedfbfd34f43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791c40eeae4f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415fce789f4b21" /><Relationship Type="http://schemas.openxmlformats.org/officeDocument/2006/relationships/notesMaster" Target="/ppt/notesMasters/notesMaster1.xml" Id="R9e5f9cddd80840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7b9907e5d54815" /><Relationship Type="http://schemas.openxmlformats.org/officeDocument/2006/relationships/notesMaster" Target="/ppt/notesMasters/notesMaster1.xml" Id="R6e9a4a9c8a5a4d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9ef18ac5c2465c" /><Relationship Type="http://schemas.openxmlformats.org/officeDocument/2006/relationships/notesMaster" Target="/ppt/notesMasters/notesMaster1.xml" Id="R5dd8da25ed9741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0422106afd4106" /><Relationship Type="http://schemas.openxmlformats.org/officeDocument/2006/relationships/notesMaster" Target="/ppt/notesMasters/notesMaster1.xml" Id="R0d5f3e189dfa4e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0ddb29d1684b9d" /><Relationship Type="http://schemas.openxmlformats.org/officeDocument/2006/relationships/notesMaster" Target="/ppt/notesMasters/notesMaster1.xml" Id="Rc5625ec3334a45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演示数据为合成数据，保存在现有 Supabase 数据库中。世界关系为业务结构示意，不是已验证的因果模型。资产由代码生成，未使用 image generation。产品依据：app/page.tsx、business-world-screens.tsx、real-service.ts。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数据库中已有 xiaoyu、alin、wangyi、mia 四类合成人群。其他客户与业务角色为研究模板。不能将模板数量当作实际客户数量。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库存规则：当前商品 stockDays &lt;= 7 触发提醒，这是演示阈值。库存不足不等于已发生缺货，也不是时间趋势证据。其他需求、CPA、竞品价格、区域人口等事件为明确标记的模板。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真实操作证据：http://localhost:3139。运行时间：2026-09-21T02:13:27.589748+00:00。情景 ID：8e257e5c-7fa3-4b7b-91f0-2607e106d987。假设：路演验收：比较投放效率提升 10% 的方向性影响。模型将同一倍率作用于 ROI 与转化率，非 AI 预测，也不是针对价格、库存或供给的专用优化器。不得把截图当成每次打开页面自动完成保存。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在线体验路径 /world，完整路演 /roadshow，资产工作台 /roadshow-assets。网页与本 PPT 使用 lib/roadshow/catalog.json 和 public/roadshow-assets。当前不自动执行投放、下单、调价或库存操作。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dccef327f344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0dac4be9564c78" /><Relationship Type="http://schemas.openxmlformats.org/officeDocument/2006/relationships/slideLayout" Target="/ppt/slideLayouts/slideLayout1.xml" Id="R9beed6b524c148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eed6b524c148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b376d24aa4f39" /><Relationship Type="http://schemas.openxmlformats.org/officeDocument/2006/relationships/image" Target="/ppt/media/image.png" Id="Rfd64f69da7954011" /><Relationship Type="http://schemas.openxmlformats.org/officeDocument/2006/relationships/image" Target="/ppt/media/image.svg" Id="R5a1dcdcb71ad4be4" /><Relationship Type="http://schemas.openxmlformats.org/officeDocument/2006/relationships/notesSlide" Target="/ppt/notesSlides/notesSlide1.xml" Id="Re1e2f4688a6e45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92cf5d11e473d" /><Relationship Type="http://schemas.openxmlformats.org/officeDocument/2006/relationships/image" Target="/ppt/media/image2.png" Id="R9039e3142eb24f98" /><Relationship Type="http://schemas.openxmlformats.org/officeDocument/2006/relationships/image" Target="/ppt/media/image2.svg" Id="Rf524a350fea54305" /><Relationship Type="http://schemas.openxmlformats.org/officeDocument/2006/relationships/image" Target="/ppt/media/image3.png" Id="R30015cdb260141ff" /><Relationship Type="http://schemas.openxmlformats.org/officeDocument/2006/relationships/image" Target="/ppt/media/image3.svg" Id="R5f357056c82141fc" /><Relationship Type="http://schemas.openxmlformats.org/officeDocument/2006/relationships/image" Target="/ppt/media/image4.png" Id="R3fda394901bb4e69" /><Relationship Type="http://schemas.openxmlformats.org/officeDocument/2006/relationships/image" Target="/ppt/media/image4.svg" Id="R0841544b3f1141f9" /><Relationship Type="http://schemas.openxmlformats.org/officeDocument/2006/relationships/image" Target="/ppt/media/image5.png" Id="Rea6d28a40c794901" /><Relationship Type="http://schemas.openxmlformats.org/officeDocument/2006/relationships/image" Target="/ppt/media/image5.svg" Id="R7d165fdbf7fb45e6" /><Relationship Type="http://schemas.openxmlformats.org/officeDocument/2006/relationships/image" Target="/ppt/media/image6.png" Id="R26a918adc4d5408c" /><Relationship Type="http://schemas.openxmlformats.org/officeDocument/2006/relationships/image" Target="/ppt/media/image6.svg" Id="R098049d5003944f0" /><Relationship Type="http://schemas.openxmlformats.org/officeDocument/2006/relationships/image" Target="/ppt/media/image7.png" Id="Rada132883f364b8e" /><Relationship Type="http://schemas.openxmlformats.org/officeDocument/2006/relationships/image" Target="/ppt/media/image7.svg" Id="Rf188fd6b1020427d" /><Relationship Type="http://schemas.openxmlformats.org/officeDocument/2006/relationships/image" Target="/ppt/media/image8.png" Id="R531cfd2aea714bfc" /><Relationship Type="http://schemas.openxmlformats.org/officeDocument/2006/relationships/image" Target="/ppt/media/image8.svg" Id="Rbde91229a9714733" /><Relationship Type="http://schemas.openxmlformats.org/officeDocument/2006/relationships/image" Target="/ppt/media/image9.png" Id="R4f9d8374f3f54d91" /><Relationship Type="http://schemas.openxmlformats.org/officeDocument/2006/relationships/image" Target="/ppt/media/image9.svg" Id="Ra09d9fd4fbb34616" /><Relationship Type="http://schemas.openxmlformats.org/officeDocument/2006/relationships/notesSlide" Target="/ppt/notesSlides/notesSlide2.xml" Id="R39a26c6ea95b49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be8bf27cc43e7" /><Relationship Type="http://schemas.openxmlformats.org/officeDocument/2006/relationships/image" Target="/ppt/media/image10.png" Id="R54a44ec64036481a" /><Relationship Type="http://schemas.openxmlformats.org/officeDocument/2006/relationships/image" Target="/ppt/media/image10.svg" Id="Rdb17b8c4d5bd46ec" /><Relationship Type="http://schemas.openxmlformats.org/officeDocument/2006/relationships/image" Target="/ppt/media/image11.png" Id="R4399da06cd944ec6" /><Relationship Type="http://schemas.openxmlformats.org/officeDocument/2006/relationships/image" Target="/ppt/media/image11.svg" Id="Rabcb043bd781452f" /><Relationship Type="http://schemas.openxmlformats.org/officeDocument/2006/relationships/image" Target="/ppt/media/image12.png" Id="Re4bb0d776cd44a5b" /><Relationship Type="http://schemas.openxmlformats.org/officeDocument/2006/relationships/image" Target="/ppt/media/image12.svg" Id="R6e0495f0df0b4582" /><Relationship Type="http://schemas.openxmlformats.org/officeDocument/2006/relationships/image" Target="/ppt/media/image13.png" Id="Rd0af2c60cb894c0c" /><Relationship Type="http://schemas.openxmlformats.org/officeDocument/2006/relationships/image" Target="/ppt/media/image13.svg" Id="Rb07291142d2b4c07" /><Relationship Type="http://schemas.openxmlformats.org/officeDocument/2006/relationships/notesSlide" Target="/ppt/notesSlides/notesSlide3.xml" Id="R8531be4e5f5e40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048b824c34498" /><Relationship Type="http://schemas.openxmlformats.org/officeDocument/2006/relationships/image" Target="/ppt/media/image.jpeg" Id="Rb434330c3e7445cd" /><Relationship Type="http://schemas.openxmlformats.org/officeDocument/2006/relationships/notesSlide" Target="/ppt/notesSlides/notesSlide4.xml" Id="Re571b8307afd46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2b3f37fbd4f57" /><Relationship Type="http://schemas.openxmlformats.org/officeDocument/2006/relationships/image" Target="/ppt/media/image14.png" Id="Rc1aa2348476b48b9" /><Relationship Type="http://schemas.openxmlformats.org/officeDocument/2006/relationships/image" Target="/ppt/media/image14.svg" Id="Rc5d2122a551d4c28" /><Relationship Type="http://schemas.openxmlformats.org/officeDocument/2006/relationships/notesSlide" Target="/ppt/notesSlides/notesSlide5.xml" Id="Rc0bc92671eda49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46AE1-A4B2-43F3-8392-43C74081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defRPr>
            </a:pPr>
            <a:r>
              <a:rPr sz="120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rPr>
              <a:t>01 / 经营世界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B26F1-FC73-4C01-B202-7E1D17B5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8FA6BA"/>
                </a:solidFill>
                <a:latin typeface="World Sans SC"/>
                <a:ea typeface="World Sans SC"/>
                <a:cs typeface="World Sans SC"/>
              </a:defRPr>
            </a:pPr>
            <a:r>
              <a:rPr sz="975" b="0">
                <a:solidFill>
                  <a:srgbClr val="8FA6BA"/>
                </a:solidFill>
                <a:latin typeface="World Sans SC"/>
                <a:ea typeface="World Sans SC"/>
                <a:cs typeface="World Sans SC"/>
              </a:rPr>
              <a:t>Business World Agent    /    01 —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ED807-C758-493C-AE93-91DA451F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defRPr>
            </a:pPr>
            <a:r>
              <a:rPr sz="3600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rPr>
              <a:t>让每个业务角色</a:t>
            </a:r>
          </a:p>
          <a:p xmlns:a="http://schemas.openxmlformats.org/drawingml/2006/main">
            <a:pPr>
              <a:defRPr sz="3600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defRPr>
            </a:pPr>
            <a:r>
              <a:rPr sz="3600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rPr>
              <a:t>看见同一个世界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31280-E293-47D6-8A00-39A015E8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41624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defRPr>
            </a:pPr>
            <a:r>
              <a:rPr sz="1800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rPr>
              <a:t>连接家庭需求、商业实体与经营数据。选择一个角色，理解它关心的问题。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CE1EC-63D4-477E-BB37-63A5C67C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defRPr>
            </a:pPr>
            <a:r>
              <a:rPr sz="150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rPr>
              <a:t>尿布行业 · 数据库驱动演示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4f69da7954011">
            <a:extLst>
              <a:ext uri="{96DAC541-7B7A-43D3-8B79-37D633B846F1}">
                <asvg:svgBlip xmlns:asvg="http://schemas.microsoft.com/office/drawing/2016/SVG/main" r:embed="R5a1dcdcb71ad4b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38750" y="1616869"/>
            <a:ext cx="6477000" cy="36433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602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6B1730-53E0-4ECC-90F0-DC9C032B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defRPr>
            </a:pPr>
            <a:r>
              <a:rPr sz="120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rPr>
              <a:t>02 / 客户与伙伴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465BE-7E88-4987-9239-B44A3D24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8FA6BA"/>
                </a:solidFill>
                <a:latin typeface="World Sans SC"/>
                <a:ea typeface="World Sans SC"/>
                <a:cs typeface="World Sans SC"/>
              </a:defRPr>
            </a:pPr>
            <a:r>
              <a:rPr sz="975" b="0">
                <a:solidFill>
                  <a:srgbClr val="8FA6BA"/>
                </a:solidFill>
                <a:latin typeface="World Sans SC"/>
                <a:ea typeface="World Sans SC"/>
                <a:cs typeface="World Sans SC"/>
              </a:rPr>
              <a:t>Business World Agent    /    02 —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BBE72-FEA3-4C49-B389-D3F7A187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4857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defRPr>
            </a:pPr>
            <a:r>
              <a:rPr sz="3300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rPr>
              <a:t>不同的家庭，</a:t>
            </a:r>
          </a:p>
          <a:p xmlns:a="http://schemas.openxmlformats.org/drawingml/2006/main">
            <a:pPr>
              <a:defRPr sz="3300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defRPr>
            </a:pPr>
            <a:r>
              <a:rPr sz="3300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rPr>
              <a:t>不同的选择理由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F611F-836F-4FF7-B153-1244B187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4333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defRPr>
            </a:pPr>
            <a:r>
              <a:rPr sz="187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rPr>
              <a:t>同一个产品，人们在意的事情不同。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defRPr>
            </a:pPr>
            <a:r>
              <a:rPr sz="187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rPr>
              <a:t>目标、顾虑、触发条件与行为，</a:t>
            </a:r>
          </a:p>
          <a:p xmlns:a="http://schemas.openxmlformats.org/drawingml/2006/main">
            <a:pPr>
              <a:defRPr sz="187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defRPr>
            </a:pPr>
            <a:r>
              <a:rPr sz="187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rPr>
              <a:t>决定要验证怎样的假设。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8EC85-29F9-4963-9AA3-B54C4D7D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defRPr>
            </a:pPr>
            <a:r>
              <a:rPr sz="150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rPr>
              <a:t>4 类数据库人群 / 16 个角色模板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9e3142eb24f98">
            <a:extLst>
              <a:ext uri="{96DAC541-7B7A-43D3-8B79-37D633B846F1}">
                <asvg:svgBlip xmlns:asvg="http://schemas.microsoft.com/office/drawing/2016/SVG/main" r:embed="Rf524a350fea543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81625" y="1438275"/>
            <a:ext cx="1323975" cy="13239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F7C63-AB06-4F8A-AB23-A46C5DB3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05125"/>
            <a:ext cx="147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AE8ED"/>
                </a:solidFill>
                <a:latin typeface="World Sans SC"/>
                <a:ea typeface="World Sans SC"/>
                <a:cs typeface="World Sans SC"/>
              </a:defRPr>
            </a:pPr>
            <a:r>
              <a:rPr sz="1350" b="0">
                <a:solidFill>
                  <a:srgbClr val="DAE8ED"/>
                </a:solidFill>
                <a:latin typeface="World Sans SC"/>
                <a:ea typeface="World Sans SC"/>
                <a:cs typeface="World Sans SC"/>
              </a:rPr>
              <a:t>新手谨慎家庭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15cdb260141ff">
            <a:extLst>
              <a:ext uri="{96DAC541-7B7A-43D3-8B79-37D633B846F1}">
                <asvg:svgBlip xmlns:asvg="http://schemas.microsoft.com/office/drawing/2016/SVG/main" r:embed="R5f357056c82141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96100" y="1438275"/>
            <a:ext cx="1323975" cy="13239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BD4E6-7D4A-4AC1-83EF-699358C5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905125"/>
            <a:ext cx="147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AE8ED"/>
                </a:solidFill>
                <a:latin typeface="World Sans SC"/>
                <a:ea typeface="World Sans SC"/>
                <a:cs typeface="World Sans SC"/>
              </a:defRPr>
            </a:pPr>
            <a:r>
              <a:rPr sz="1350" b="0">
                <a:solidFill>
                  <a:srgbClr val="DAE8ED"/>
                </a:solidFill>
                <a:latin typeface="World Sans SC"/>
                <a:ea typeface="World Sans SC"/>
                <a:cs typeface="World Sans SC"/>
              </a:rPr>
              <a:t>精打细算家庭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a394901bb4e69">
            <a:extLst>
              <a:ext uri="{96DAC541-7B7A-43D3-8B79-37D633B846F1}">
                <asvg:svgBlip xmlns:asvg="http://schemas.microsoft.com/office/drawing/2016/SVG/main" r:embed="R0841544b3f1141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10575" y="1438275"/>
            <a:ext cx="1323975" cy="13239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3F2F1-D7AA-4C2E-BD69-9CF2C9FF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05125"/>
            <a:ext cx="147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AE8ED"/>
                </a:solidFill>
                <a:latin typeface="World Sans SC"/>
                <a:ea typeface="World Sans SC"/>
                <a:cs typeface="World Sans SC"/>
              </a:defRPr>
            </a:pPr>
            <a:r>
              <a:rPr sz="1350" b="0">
                <a:solidFill>
                  <a:srgbClr val="DAE8ED"/>
                </a:solidFill>
                <a:latin typeface="World Sans SC"/>
                <a:ea typeface="World Sans SC"/>
                <a:cs typeface="World Sans SC"/>
              </a:rPr>
              <a:t>长辈照护家庭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d28a40c794901">
            <a:extLst>
              <a:ext uri="{96DAC541-7B7A-43D3-8B79-37D633B846F1}">
                <asvg:svgBlip xmlns:asvg="http://schemas.microsoft.com/office/drawing/2016/SVG/main" r:embed="R7d165fdbf7fb45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25050" y="1438275"/>
            <a:ext cx="1323975" cy="13239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E878D-AB99-47CC-9A6B-022223B5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05125"/>
            <a:ext cx="147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AE8ED"/>
                </a:solidFill>
                <a:latin typeface="World Sans SC"/>
                <a:ea typeface="World Sans SC"/>
                <a:cs typeface="World Sans SC"/>
              </a:defRPr>
            </a:pPr>
            <a:r>
              <a:rPr sz="1350" b="0">
                <a:solidFill>
                  <a:srgbClr val="DAE8ED"/>
                </a:solidFill>
                <a:latin typeface="World Sans SC"/>
                <a:ea typeface="World Sans SC"/>
                <a:cs typeface="World Sans SC"/>
              </a:rPr>
              <a:t>乐于分享家庭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918adc4d5408c">
            <a:extLst>
              <a:ext uri="{96DAC541-7B7A-43D3-8B79-37D633B846F1}">
                <asvg:svgBlip xmlns:asvg="http://schemas.microsoft.com/office/drawing/2016/SVG/main" r:embed="R098049d5003944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81625" y="3629025"/>
            <a:ext cx="1323975" cy="13239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9152A-C18A-4CB8-9D94-B86973F1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95875"/>
            <a:ext cx="147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AE8ED"/>
                </a:solidFill>
                <a:latin typeface="World Sans SC"/>
                <a:ea typeface="World Sans SC"/>
                <a:cs typeface="World Sans SC"/>
              </a:defRPr>
            </a:pPr>
            <a:r>
              <a:rPr sz="1350" b="0">
                <a:solidFill>
                  <a:srgbClr val="DAE8ED"/>
                </a:solidFill>
                <a:latin typeface="World Sans SC"/>
                <a:ea typeface="World Sans SC"/>
                <a:cs typeface="World Sans SC"/>
              </a:rPr>
              <a:t>品质敏感家庭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132883f364b8e">
            <a:extLst>
              <a:ext uri="{96DAC541-7B7A-43D3-8B79-37D633B846F1}">
                <asvg:svgBlip xmlns:asvg="http://schemas.microsoft.com/office/drawing/2016/SVG/main" r:embed="Rf188fd6b102042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96100" y="3629025"/>
            <a:ext cx="1323975" cy="132397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28A39-4084-4843-A291-74163661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875"/>
            <a:ext cx="147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AE8ED"/>
                </a:solidFill>
                <a:latin typeface="World Sans SC"/>
                <a:ea typeface="World Sans SC"/>
                <a:cs typeface="World Sans SC"/>
              </a:defRPr>
            </a:pPr>
            <a:r>
              <a:rPr sz="1350" b="0">
                <a:solidFill>
                  <a:srgbClr val="DAE8ED"/>
                </a:solidFill>
                <a:latin typeface="World Sans SC"/>
                <a:ea typeface="World Sans SC"/>
                <a:cs typeface="World Sans SC"/>
              </a:rPr>
              <a:t>促销驱动家庭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cfd2aea714bfc">
            <a:extLst>
              <a:ext uri="{96DAC541-7B7A-43D3-8B79-37D633B846F1}">
                <asvg:svgBlip xmlns:asvg="http://schemas.microsoft.com/office/drawing/2016/SVG/main" r:embed="Rbde91229a97147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10575" y="3629025"/>
            <a:ext cx="1323975" cy="132397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87063-1196-49E3-B113-F225004B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95875"/>
            <a:ext cx="147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AE8ED"/>
                </a:solidFill>
                <a:latin typeface="World Sans SC"/>
                <a:ea typeface="World Sans SC"/>
                <a:cs typeface="World Sans SC"/>
              </a:defRPr>
            </a:pPr>
            <a:r>
              <a:rPr sz="1350" b="0">
                <a:solidFill>
                  <a:srgbClr val="DAE8ED"/>
                </a:solidFill>
                <a:latin typeface="World Sans SC"/>
                <a:ea typeface="World Sans SC"/>
                <a:cs typeface="World Sans SC"/>
              </a:rPr>
              <a:t>紧急补货家庭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d8374f3f54d91">
            <a:extLst>
              <a:ext uri="{96DAC541-7B7A-43D3-8B79-37D633B846F1}">
                <asvg:svgBlip xmlns:asvg="http://schemas.microsoft.com/office/drawing/2016/SVG/main" r:embed="Ra09d9fd4fbb346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25050" y="3629025"/>
            <a:ext cx="1323975" cy="132397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6C203-C428-4A19-9053-C585D6FD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095875"/>
            <a:ext cx="1476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AE8ED"/>
                </a:solidFill>
                <a:latin typeface="World Sans SC"/>
                <a:ea typeface="World Sans SC"/>
                <a:cs typeface="World Sans SC"/>
              </a:defRPr>
            </a:pPr>
            <a:r>
              <a:rPr sz="1350" b="0">
                <a:solidFill>
                  <a:srgbClr val="DAE8ED"/>
                </a:solidFill>
                <a:latin typeface="World Sans SC"/>
                <a:ea typeface="World Sans SC"/>
                <a:cs typeface="World Sans SC"/>
              </a:rPr>
              <a:t>成长换码家庭</a:t>
            </a:r>
          </a:p>
        </p:txBody>
      </p:sp>
    </p:spTree>
    <p:extLst>
      <p:ext uri="{BB962C8B-B14F-4D97-AF65-F5344CB8AC3E}">
        <p14:creationId xmlns:p14="http://schemas.microsoft.com/office/powerpoint/2010/main" val="1653405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5F5DE-B43C-417B-AA4A-24B3FA44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defRPr>
            </a:pPr>
            <a:r>
              <a:rPr sz="120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rPr>
              <a:t>03 / 商业事件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5DA78-4D61-4F66-AD0C-46FF2BBA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8FA6BA"/>
                </a:solidFill>
                <a:latin typeface="World Sans SC"/>
                <a:ea typeface="World Sans SC"/>
                <a:cs typeface="World Sans SC"/>
              </a:defRPr>
            </a:pPr>
            <a:r>
              <a:rPr sz="975" b="0">
                <a:solidFill>
                  <a:srgbClr val="8FA6BA"/>
                </a:solidFill>
                <a:latin typeface="World Sans SC"/>
                <a:ea typeface="World Sans SC"/>
                <a:cs typeface="World Sans SC"/>
              </a:rPr>
              <a:t>Business World Agent    /    03 —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56272-E6AC-43E3-9CBD-0AE21182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defRPr>
            </a:pPr>
            <a:r>
              <a:rPr sz="337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rPr>
              <a:t>一次库存变化，影响哪些人？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923B0-298A-497E-B3B7-B8E2DBFC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defRPr>
            </a:pPr>
            <a:r>
              <a:rPr sz="1950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rPr>
              <a:t>信号进入讨论，角色解释影响，情景帮助比较。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44ec64036481a">
            <a:extLst>
              <a:ext uri="{96DAC541-7B7A-43D3-8B79-37D633B846F1}">
                <asvg:svgBlip xmlns:asvg="http://schemas.microsoft.com/office/drawing/2016/SVG/main" r:embed="Rdb17b8c4d5bd46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3925" y="2933700"/>
            <a:ext cx="1866900" cy="1866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1D6DA-A24E-478E-9BC5-D901FCE5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149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defRPr>
            </a:pPr>
            <a:r>
              <a:rPr sz="202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rPr>
              <a:t>行业事件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FCD44-BB91-42E0-A9D4-2491B18F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defRPr>
            </a:pPr>
            <a:r>
              <a:rPr sz="14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rPr>
              <a:t>核对当前库存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1A1DE-B0B9-4B35-BA6B-68B01D36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195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defRPr>
            </a:pPr>
            <a:r>
              <a:rPr sz="225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rPr>
              <a:t>→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9da06cd944ec6">
            <a:extLst>
              <a:ext uri="{96DAC541-7B7A-43D3-8B79-37D633B846F1}">
                <asvg:svgBlip xmlns:asvg="http://schemas.microsoft.com/office/drawing/2016/SVG/main" r:embed="Rabcb043bd78145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76675" y="2933700"/>
            <a:ext cx="1866900" cy="18669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FF370-0CEA-4410-8EED-3E95E541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149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defRPr>
            </a:pPr>
            <a:r>
              <a:rPr sz="202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rPr>
              <a:t>角色视角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2F62A-087A-459B-B365-BF59CAAC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3340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defRPr>
            </a:pPr>
            <a:r>
              <a:rPr sz="14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rPr>
              <a:t>理解供给风险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A8313-3461-4B56-818D-B864353B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6195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defRPr>
            </a:pPr>
            <a:r>
              <a:rPr sz="225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rPr>
              <a:t>→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b0d776cd44a5b">
            <a:extLst>
              <a:ext uri="{96DAC541-7B7A-43D3-8B79-37D633B846F1}">
                <asvg:svgBlip xmlns:asvg="http://schemas.microsoft.com/office/drawing/2016/SVG/main" r:embed="R6e0495f0df0b45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29425" y="3342084"/>
            <a:ext cx="1866900" cy="1050131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21A7A-9CD9-4185-BA58-55589B4E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149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defRPr>
            </a:pPr>
            <a:r>
              <a:rPr sz="202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rPr>
              <a:t>情景比较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02BC3-82D2-4F07-88E0-CB6044B0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3340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defRPr>
            </a:pPr>
            <a:r>
              <a:rPr sz="14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rPr>
              <a:t>明确假设与边界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67B6D-B3A6-493B-B45F-E1F8EC5F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195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defRPr>
            </a:pPr>
            <a:r>
              <a:rPr sz="225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rPr>
              <a:t>→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f2c60cb894c0c">
            <a:extLst>
              <a:ext uri="{96DAC541-7B7A-43D3-8B79-37D633B846F1}">
                <asvg:svgBlip xmlns:asvg="http://schemas.microsoft.com/office/drawing/2016/SVG/main" r:embed="Rb07291142d2b4c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82175" y="2933700"/>
            <a:ext cx="1866900" cy="1866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4D50D-A485-44F7-8882-F4A10E9E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9149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defRPr>
            </a:pPr>
            <a:r>
              <a:rPr sz="202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rPr>
              <a:t>保留决策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E66627-8224-424B-9966-0F744377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3340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defRPr>
            </a:pPr>
            <a:r>
              <a:rPr sz="14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rPr>
              <a:t>保存并重新读回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C632A2-8296-42AF-9A0F-2973377D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defRPr>
            </a:pPr>
            <a:r>
              <a:rPr sz="1500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rPr>
              <a:t>库存提醒使用当前数据库值；其余事件模板明确标记为演示假设。</a:t>
            </a:r>
          </a:p>
        </p:txBody>
      </p:sp>
    </p:spTree>
    <p:extLst>
      <p:ext uri="{BB962C8B-B14F-4D97-AF65-F5344CB8AC3E}">
        <p14:creationId xmlns:p14="http://schemas.microsoft.com/office/powerpoint/2010/main" val="616251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27320-F6F0-4A0A-8AA6-22DDE464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defRPr>
            </a:pPr>
            <a:r>
              <a:rPr sz="120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rPr>
              <a:t>04 / 现场推演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1E579-D51D-412A-80E3-94020EC6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8FA6BA"/>
                </a:solidFill>
                <a:latin typeface="World Sans SC"/>
                <a:ea typeface="World Sans SC"/>
                <a:cs typeface="World Sans SC"/>
              </a:defRPr>
            </a:pPr>
            <a:r>
              <a:rPr sz="975" b="0">
                <a:solidFill>
                  <a:srgbClr val="8FA6BA"/>
                </a:solidFill>
                <a:latin typeface="World Sans SC"/>
                <a:ea typeface="World Sans SC"/>
                <a:cs typeface="World Sans SC"/>
              </a:rPr>
              <a:t>Business World Agent    /    04 —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D11D4-A3CF-4682-BDB6-C294F2B5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4143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defRPr>
            </a:pPr>
            <a:r>
              <a:rPr sz="322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rPr>
              <a:t>调整一个假设，</a:t>
            </a:r>
          </a:p>
          <a:p xmlns:a="http://schemas.openxmlformats.org/drawingml/2006/main">
            <a:pPr>
              <a:defRPr sz="322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defRPr>
            </a:pPr>
            <a:r>
              <a:rPr sz="322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rPr>
              <a:t>比较一个情景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DEF1E-078F-48ED-93DD-F1907F34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40767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defRPr>
            </a:pPr>
            <a:r>
              <a:rPr sz="17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rPr>
              <a:t>调整投放效率假设。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defRPr>
            </a:pPr>
            <a:r>
              <a:rPr sz="17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rPr>
              <a:t>读取数据库基线，运行线性情景，</a:t>
            </a:r>
          </a:p>
          <a:p xmlns:a="http://schemas.openxmlformats.org/drawingml/2006/main">
            <a:pPr>
              <a:defRPr sz="17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defRPr>
            </a:pPr>
            <a:r>
              <a:rPr sz="17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rPr>
              <a:t>保存后按记录 ID 重新读回。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4330c3e7445cd"/>
          <a:stretch xmlns:a="http://schemas.openxmlformats.org/drawingml/2006/main"/>
        </p:blipFill>
        <p:spPr>
          <a:xfrm xmlns:a="http://schemas.openxmlformats.org/drawingml/2006/main">
            <a:off x="4972050" y="1642632"/>
            <a:ext cx="6667500" cy="362036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9702E-F3B1-4250-BA31-E07FD816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7626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defRPr>
            </a:pPr>
            <a:r>
              <a:rPr sz="1275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rPr>
              <a:t>本次运行截图 · 合成经营数据 · 非市场预测</a:t>
            </a:r>
          </a:p>
        </p:txBody>
      </p:sp>
    </p:spTree>
    <p:extLst>
      <p:ext uri="{BB962C8B-B14F-4D97-AF65-F5344CB8AC3E}">
        <p14:creationId xmlns:p14="http://schemas.microsoft.com/office/powerpoint/2010/main" val="4548645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BFA7A-F880-4060-B938-702F48D1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defRPr>
            </a:pPr>
            <a:r>
              <a:rPr sz="120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rPr>
              <a:t>05 / 团队决策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E6C84-7833-4C5B-AF22-25533660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8FA6BA"/>
                </a:solidFill>
                <a:latin typeface="World Sans SC"/>
                <a:ea typeface="World Sans SC"/>
                <a:cs typeface="World Sans SC"/>
              </a:defRPr>
            </a:pPr>
            <a:r>
              <a:rPr sz="975" b="0">
                <a:solidFill>
                  <a:srgbClr val="8FA6BA"/>
                </a:solidFill>
                <a:latin typeface="World Sans SC"/>
                <a:ea typeface="World Sans SC"/>
                <a:cs typeface="World Sans SC"/>
              </a:rPr>
              <a:t>Business World Agent    /    05 —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A57B8-A404-4CDB-9FB2-39C52268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defRPr>
            </a:pPr>
            <a:r>
              <a:rPr sz="352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rPr>
              <a:t>把假设和结果，</a:t>
            </a:r>
          </a:p>
          <a:p xmlns:a="http://schemas.openxmlformats.org/drawingml/2006/main">
            <a:pPr>
              <a:defRPr sz="352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defRPr>
            </a:pPr>
            <a:r>
              <a:rPr sz="3525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rPr>
              <a:t>留给下一次决策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0BCF0-2F5D-47F6-BC02-263EB596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58578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defRPr>
            </a:pPr>
            <a:r>
              <a:rPr sz="20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rPr>
              <a:t>比较结果时，保留来源与边界。</a:t>
            </a:r>
          </a:p>
          <a:p xmlns:a="http://schemas.openxmlformats.org/drawingml/2006/main">
            <a:pPr>
              <a:defRPr sz="20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defRPr>
            </a:pPr>
            <a:r>
              <a:rPr sz="20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rPr>
              <a:t>重新打开记录，回看当时的假设。</a:t>
            </a:r>
          </a:p>
          <a:p xmlns:a="http://schemas.openxmlformats.org/drawingml/2006/main">
            <a:pPr>
              <a:defRPr sz="20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defRPr>
            </a:pPr>
            <a:r>
              <a:rPr sz="2025" b="0">
                <a:solidFill>
                  <a:srgbClr val="AABED0"/>
                </a:solidFill>
                <a:latin typeface="World Sans SC"/>
                <a:ea typeface="World Sans SC"/>
                <a:cs typeface="World Sans SC"/>
              </a:rPr>
              <a:t>把下一步行动交给业务团队验证。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0AD71-12ED-4649-9ECF-91526579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24475"/>
            <a:ext cx="542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defRPr>
            </a:pPr>
            <a:r>
              <a:rPr sz="1800" b="0">
                <a:solidFill>
                  <a:srgbClr val="78DAD7"/>
                </a:solidFill>
                <a:latin typeface="World Sans SC"/>
                <a:ea typeface="World Sans SC"/>
                <a:cs typeface="World Sans SC"/>
              </a:rPr>
              <a:t>在线体验：/world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a2348476b48b9">
            <a:extLst>
              <a:ext uri="{96DAC541-7B7A-43D3-8B79-37D633B846F1}">
                <asvg:svgBlip xmlns:asvg="http://schemas.microsoft.com/office/drawing/2016/SVG/main" r:embed="Rc5d2122a551d4c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15250" y="1285875"/>
            <a:ext cx="3371850" cy="3371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ECD84-C725-4E2D-950C-0C9DF519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96252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defRPr>
            </a:pPr>
            <a:r>
              <a:rPr sz="2250" b="1">
                <a:solidFill>
                  <a:srgbClr val="F0F4F6"/>
                </a:solidFill>
                <a:latin typeface="World Sans SC"/>
                <a:ea typeface="World Sans SC"/>
                <a:cs typeface="World Sans SC"/>
              </a:rPr>
              <a:t>可回看的决策</a:t>
            </a:r>
          </a:p>
        </p:txBody>
      </p:sp>
    </p:spTree>
    <p:extLst>
      <p:ext uri="{BB962C8B-B14F-4D97-AF65-F5344CB8AC3E}">
        <p14:creationId xmlns:p14="http://schemas.microsoft.com/office/powerpoint/2010/main" val="126123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2026-09-21T02:24:11.4200000Z</dcterms:created>
  <dcterms:modified xsi:type="dcterms:W3CDTF">2026-09-21T02:24:11.4200000Z</dcterms:modified>
</coreProperties>
</file>